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4389120" cy="320040"/>
          </a:xfrm>
          <a:prstGeom prst="roundRect">
            <a:avLst/>
          </a:prstGeom>
          <a:solidFill>
            <a:srgbClr val="143264"/>
          </a:solidFill>
          <a:ln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rPr lang="en-US" dirty="0"/>
              <a:t>BECHLOR OF COMPUTER APPLICATIONS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ONLINE MOBILE PURCHASING &amp; DISTRIBUTING SYSTEM</a:t>
            </a:r>
          </a:p>
          <a:p>
            <a:pPr>
              <a:spcBef>
                <a:spcPts val="800"/>
              </a:spcBef>
              <a:defRPr sz="1400">
                <a:solidFill>
                  <a:srgbClr val="BAD7FF"/>
                </a:solidFill>
                <a:latin typeface="Calibri"/>
              </a:defRPr>
            </a:pPr>
            <a:r>
              <a:t>A Complete Multi-Tier Smartphone E-Commerce, Inventory Control &amp; Distribution Management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10362895" cy="502920"/>
          </a:xfrm>
          <a:prstGeom prst="roundRect">
            <a:avLst/>
          </a:prstGeom>
          <a:solidFill>
            <a:srgbClr val="102850"/>
          </a:solidFill>
          <a:ln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PROJECT NO.: </a:t>
            </a:r>
            <a:r>
              <a:rPr lang="en-US" dirty="0"/>
              <a:t> 28</a:t>
            </a:r>
            <a:r>
              <a:rPr dirty="0"/>
              <a:t>    |    </a:t>
            </a: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Semester BCA </a:t>
            </a:r>
            <a:r>
              <a:rPr dirty="0"/>
              <a:t>|    Academic Year 20</a:t>
            </a:r>
            <a:r>
              <a:rPr lang="en-US" dirty="0"/>
              <a:t>26-27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3611880"/>
            <a:ext cx="4983480" cy="2560320"/>
          </a:xfrm>
          <a:prstGeom prst="roundRect">
            <a:avLst/>
          </a:prstGeom>
          <a:solidFill>
            <a:srgbClr val="122C58"/>
          </a:solidFill>
          <a:ln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rPr dirty="0"/>
              <a:t>SUBMITTED BY (PROJECT TEAM):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rPr dirty="0"/>
              <a:t>1. </a:t>
            </a:r>
            <a:r>
              <a:rPr lang="en-US" dirty="0"/>
              <a:t>PATANJALI PATEL</a:t>
            </a:r>
            <a:r>
              <a:rPr dirty="0"/>
              <a:t>  (</a:t>
            </a:r>
            <a:r>
              <a:rPr lang="en-US" dirty="0"/>
              <a:t>2024015667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rPr dirty="0"/>
              <a:t>2. </a:t>
            </a:r>
            <a:r>
              <a:rPr lang="en-US" dirty="0"/>
              <a:t>KEYUSH PATEL</a:t>
            </a:r>
            <a:r>
              <a:rPr dirty="0"/>
              <a:t>  (</a:t>
            </a:r>
            <a:r>
              <a:rPr lang="en-US" dirty="0"/>
              <a:t>2024015657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rPr dirty="0"/>
              <a:t>3. </a:t>
            </a:r>
            <a:r>
              <a:rPr lang="en-US" dirty="0"/>
              <a:t>PRIYANSHU PATEL</a:t>
            </a:r>
            <a:r>
              <a:rPr dirty="0"/>
              <a:t>  (</a:t>
            </a:r>
            <a:r>
              <a:rPr lang="en-US" dirty="0"/>
              <a:t>2024015671</a:t>
            </a:r>
            <a:r>
              <a:rPr dirty="0"/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611880"/>
            <a:ext cx="4983480" cy="2560320"/>
          </a:xfrm>
          <a:prstGeom prst="roundRect">
            <a:avLst/>
          </a:prstGeom>
          <a:solidFill>
            <a:srgbClr val="122C58"/>
          </a:solidFill>
          <a:ln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500"/>
              </a:spcBef>
              <a:defRPr sz="1100" b="0">
                <a:solidFill>
                  <a:srgbClr val="BED2F0"/>
                </a:solidFill>
                <a:latin typeface="Calibri"/>
              </a:defRPr>
            </a:pPr>
            <a:r>
              <a:rPr lang="en-US" dirty="0"/>
              <a:t>BECHLOR OF COMPUTER APPLICATIONS</a:t>
            </a:r>
          </a:p>
          <a:p>
            <a:pPr>
              <a:spcBef>
                <a:spcPts val="500"/>
              </a:spcBef>
              <a:defRPr sz="1100" b="0">
                <a:solidFill>
                  <a:srgbClr val="BED2F0"/>
                </a:solidFill>
                <a:latin typeface="Calibri"/>
              </a:defRPr>
            </a:pPr>
            <a:r>
              <a:rPr lang="en-US" dirty="0"/>
              <a:t>Veer Narmad South Gujarat University, Surat</a:t>
            </a:r>
            <a:br>
              <a:rPr lang="en-US" dirty="0"/>
            </a:br>
            <a:r>
              <a:rPr lang="en-US" dirty="0"/>
              <a:t>Dolat Usha Institute of Applied Science and Dhiru Sarla Institute of Management</a:t>
            </a:r>
            <a:br>
              <a:rPr lang="en-US" dirty="0"/>
            </a:br>
            <a:r>
              <a:rPr lang="en-US" dirty="0"/>
              <a:t>&amp; Commerce, Valsad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PROJECT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2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C1C"/>
                </a:solidFill>
                <a:latin typeface="Calibri"/>
              </a:defRPr>
            </a:pPr>
            <a:r>
              <a:t>Challenges in Traditional Smartphone Distribution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Fragmented Supply Chain: </a:t>
            </a:r>
            <a:r>
              <a:rPr sz="1100">
                <a:solidFill>
                  <a:srgbClr val="64748B"/>
                </a:solidFill>
                <a:latin typeface="Calibri"/>
              </a:rPr>
              <a:t>Lack of direct automated coordination between smartphone manufacturers, regional distributors, and end retail consumers.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Inventory Inaccuracies &amp; Phantom Stocks: </a:t>
            </a:r>
            <a:r>
              <a:rPr sz="1100">
                <a:solidFill>
                  <a:srgbClr val="64748B"/>
                </a:solidFill>
                <a:latin typeface="Calibri"/>
              </a:rPr>
              <a:t>Over-selling during flash demand spikes due to delayed inventory synchronization across warehouse depots.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Manual Tax &amp; Billing Bottlenecks: </a:t>
            </a:r>
            <a:r>
              <a:rPr sz="1100">
                <a:solidFill>
                  <a:srgbClr val="64748B"/>
                </a:solidFill>
                <a:latin typeface="Calibri"/>
              </a:rPr>
              <a:t>Prone to human errors in calculating 18% GST (CGST 9% + SGST 9%) and generating compliant tax invoices.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Opaque Shipment Tracking: </a:t>
            </a:r>
            <a:r>
              <a:rPr sz="1100">
                <a:solidFill>
                  <a:srgbClr val="64748B"/>
                </a:solidFill>
                <a:latin typeface="Calibri"/>
              </a:rPr>
              <a:t>Customers lack real-time milestone visibility into dispatch, transit hub movements, and delivery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Calibri"/>
              </a:defRPr>
            </a:pPr>
            <a:r>
              <a:t>Proposed Online Mobile Distribution Platform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Unified 3-Tier Web Architecture: </a:t>
            </a:r>
            <a:r>
              <a:rPr sz="1100">
                <a:solidFill>
                  <a:srgbClr val="64748B"/>
                </a:solidFill>
                <a:latin typeface="Calibri"/>
              </a:rPr>
              <a:t>Centralized platform connecting Customers, Suppliers, and Super Admins with role-based access control.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15-Minute Concurrency Stock Reservation: </a:t>
            </a:r>
            <a:r>
              <a:rPr sz="1100">
                <a:solidFill>
                  <a:srgbClr val="64748B"/>
                </a:solidFill>
                <a:latin typeface="Calibri"/>
              </a:rPr>
              <a:t>Automated temporary stock lock (P1.3.3) during checkout prevents phantom stockouts and race conditions.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Automated GST Compliance Engine: </a:t>
            </a:r>
            <a:r>
              <a:rPr sz="1100">
                <a:solidFill>
                  <a:srgbClr val="64748B"/>
                </a:solidFill>
                <a:latin typeface="Calibri"/>
              </a:rPr>
              <a:t>Instant calculation of taxable value, CGST/SGST breakdown, and print-ready tax invoices (HSN 85171300).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E293B"/>
                </a:solidFill>
                <a:latin typeface="Calibri"/>
              </a:rPr>
              <a:t>• 7-Stage Consignment Tracking Timeline: </a:t>
            </a:r>
            <a:r>
              <a:rPr sz="1100">
                <a:solidFill>
                  <a:srgbClr val="64748B"/>
                </a:solidFill>
                <a:latin typeface="Calibri"/>
              </a:rPr>
              <a:t>End-to-end milestone tracking from order confirmation to OTP-verified doorstep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2560320" cy="731520"/>
          </a:xfrm>
          <a:prstGeom prst="roundRect">
            <a:avLst/>
          </a:prstGeom>
          <a:solidFill>
            <a:srgbClr val="EBF2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B5CBD"/>
                </a:solidFill>
                <a:latin typeface="Calibri"/>
              </a:defRPr>
            </a:pPr>
            <a:r>
              <a:t>3 ACTORS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Customer, Supplier,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5532120"/>
            <a:ext cx="2560320" cy="731520"/>
          </a:xfrm>
          <a:prstGeom prst="roundRect">
            <a:avLst/>
          </a:prstGeom>
          <a:solidFill>
            <a:srgbClr val="EBF2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B5CBD"/>
                </a:solidFill>
                <a:latin typeface="Calibri"/>
              </a:defRPr>
            </a:pPr>
            <a:r>
              <a:t>100% REAL-TIME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Stock Sync Across Warehouses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5532120"/>
            <a:ext cx="2560320" cy="731520"/>
          </a:xfrm>
          <a:prstGeom prst="roundRect">
            <a:avLst/>
          </a:prstGeom>
          <a:solidFill>
            <a:srgbClr val="EBF2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B5CBD"/>
                </a:solidFill>
                <a:latin typeface="Calibri"/>
              </a:defRPr>
            </a:pPr>
            <a:r>
              <a:t>AUTOMATED GST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HSN 85171300 Invoicing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5532120"/>
            <a:ext cx="2560320" cy="731520"/>
          </a:xfrm>
          <a:prstGeom prst="roundRect">
            <a:avLst/>
          </a:prstGeom>
          <a:solidFill>
            <a:srgbClr val="EBF2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B5CBD"/>
                </a:solidFill>
                <a:latin typeface="Calibri"/>
              </a:defRPr>
            </a:pPr>
            <a:r>
              <a:t>7-STAGE FULFILLMENT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Consignment Milestone Tracker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PROJECT SCOPE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Project Objectives &amp; Key System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3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600200"/>
            <a:ext cx="59436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Online Mobile Storefront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Provide customers with a responsive e-commerce portal to browse flagship smartphones by brand, price, RAM, camera, and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3712" y="1600200"/>
            <a:ext cx="59436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Supplier Distribution Portal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Enable verified mobile distributors to manage product listings, track consigned batches, and fulfill regional dispatches.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1732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93024" y="1600200"/>
            <a:ext cx="59436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01168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Concurrency Stock Locking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Implement a 15-minute stock reservation mechanism (P1.3.3) to prevent double-booking during flash demand and concurrent checkouts.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023360"/>
            <a:ext cx="59436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Automated GST Tax Invoicing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Auto-generate formal GST tax invoices with 18% tax breakdown (CGST 9% + SGST 9%) and print-ready receipts under DFD P1.4.3.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4048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53712" y="4023360"/>
            <a:ext cx="59436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43484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End-to-End Tracking Timeline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Provide 7-stage fulfillment tracking with AWB consignment numbers, carrier updates, and OTP-verified delivery milestones (DFD P1.5).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84048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93024" y="4023360"/>
            <a:ext cx="59436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443484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Administrative Governance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Empower administrators with real-time supply chain analytics, revenue reports, low-stock threshold audits, and RBAC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REQUIREMENT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Requirement Analysis &amp; Stakeholder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4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564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3456432" cy="68580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CUSTOMER PORTAL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Retail Smartphone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E293B"/>
                </a:solidFill>
                <a:latin typeface="Calibri"/>
              </a:rPr>
              <a:t>• Account Management: </a:t>
            </a:r>
            <a:r>
              <a:rPr sz="1000">
                <a:solidFill>
                  <a:srgbClr val="64748B"/>
                </a:solidFill>
                <a:latin typeface="Calibri"/>
              </a:rPr>
              <a:t>Self-registration, profile maintenance, delivery address book.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Catalog Discovery: </a:t>
            </a:r>
            <a:r>
              <a:rPr sz="1000">
                <a:solidFill>
                  <a:srgbClr val="64748B"/>
                </a:solidFill>
                <a:latin typeface="Calibri"/>
              </a:rPr>
              <a:t>Multi-attribute search, filter by brand, RAM, storage, 5G.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Cart &amp; Checkout: </a:t>
            </a:r>
            <a:r>
              <a:rPr sz="1000">
                <a:solidFill>
                  <a:srgbClr val="64748B"/>
                </a:solidFill>
                <a:latin typeface="Calibri"/>
              </a:rPr>
              <a:t>Add items to cart, select delivery mode, secure payment.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Invoices &amp; Tracking: </a:t>
            </a:r>
            <a:r>
              <a:rPr sz="1000">
                <a:solidFill>
                  <a:srgbClr val="64748B"/>
                </a:solidFill>
                <a:latin typeface="Calibri"/>
              </a:rPr>
              <a:t>Download GST tax invoice, view live 7-stage delivery timeline.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564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345643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SUPPLIER PORTAL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Regional Mobile Distributors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4028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E293B"/>
                </a:solidFill>
                <a:latin typeface="Calibri"/>
              </a:rPr>
              <a:t>• Vendor Profile: </a:t>
            </a:r>
            <a:r>
              <a:rPr sz="1000">
                <a:solidFill>
                  <a:srgbClr val="64748B"/>
                </a:solidFill>
                <a:latin typeface="Calibri"/>
              </a:rPr>
              <a:t>Onboarding, company info, GSTIN credentials verification.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Inventory Control: </a:t>
            </a:r>
            <a:r>
              <a:rPr sz="1000">
                <a:solidFill>
                  <a:srgbClr val="64748B"/>
                </a:solidFill>
                <a:latin typeface="Calibri"/>
              </a:rPr>
              <a:t>Add mobile devices, update batch prices, monitor stock.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Low-Stock Alerts: </a:t>
            </a:r>
            <a:r>
              <a:rPr sz="1000">
                <a:solidFill>
                  <a:srgbClr val="64748B"/>
                </a:solidFill>
                <a:latin typeface="Calibri"/>
              </a:rPr>
              <a:t>Automated restock threshold warnings when stock &lt;= 5 units.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Dispatch Fulfillment: </a:t>
            </a:r>
            <a:r>
              <a:rPr sz="1000">
                <a:solidFill>
                  <a:srgbClr val="64748B"/>
                </a:solidFill>
                <a:latin typeface="Calibri"/>
              </a:rPr>
              <a:t>Process allocated orders, assign carrier &amp; tracking IDs.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17320"/>
            <a:ext cx="34564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1417320"/>
            <a:ext cx="3456432" cy="68580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ADMINISTRATOR PORTAL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Central Operations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24028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E293B"/>
                </a:solidFill>
                <a:latin typeface="Calibri"/>
              </a:rPr>
              <a:t>• Central Dashboard: </a:t>
            </a:r>
            <a:r>
              <a:rPr sz="1000">
                <a:solidFill>
                  <a:srgbClr val="64748B"/>
                </a:solidFill>
                <a:latin typeface="Calibri"/>
              </a:rPr>
              <a:t>Real-time KPIs: Revenue, order counts, customer metrics.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Catalog &amp; Stock Audit: </a:t>
            </a:r>
            <a:r>
              <a:rPr sz="1000">
                <a:solidFill>
                  <a:srgbClr val="64748B"/>
                </a:solidFill>
                <a:latin typeface="Calibri"/>
              </a:rPr>
              <a:t>Oversee all smartphone inventories across supplier depots.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Order &amp; Payment Oversight: </a:t>
            </a:r>
            <a:r>
              <a:rPr sz="1000">
                <a:solidFill>
                  <a:srgbClr val="64748B"/>
                </a:solidFill>
                <a:latin typeface="Calibri"/>
              </a:rPr>
              <a:t>Monitor payment transactions, refunds, and order states.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E293B"/>
                </a:solidFill>
                <a:latin typeface="Calibri"/>
              </a:rPr>
              <a:t>• Analytics &amp; Reporting: </a:t>
            </a:r>
            <a:r>
              <a:rPr sz="1000">
                <a:solidFill>
                  <a:srgbClr val="64748B"/>
                </a:solidFill>
                <a:latin typeface="Calibri"/>
              </a:rPr>
              <a:t>Monthly revenue breakdown, brand sales trends, user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FUNCTIONAL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System Modules Overview (Processes P1.1 to P1.5)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5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066543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54480"/>
            <a:ext cx="731520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P1.1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554480"/>
            <a:ext cx="96012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Calibri"/>
              </a:defRPr>
            </a:pPr>
            <a:r>
              <a:t>D1: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965960"/>
            <a:ext cx="1847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  <a:latin typeface="Calibri"/>
              </a:defRPr>
            </a:pPr>
            <a:r>
              <a:t>User &amp; Supplier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88036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Customer self-registration and credential authentication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Role-Based Access Control (RBAC) for 3 actor groups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Supplier business verification &amp; GSTIN registration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Encrypted password hashing (BCRYPT) &amp; secure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1" y="1417320"/>
            <a:ext cx="2066543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44951" y="1554480"/>
            <a:ext cx="731520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P1.2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1" y="1554480"/>
            <a:ext cx="96012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Calibri"/>
              </a:defRPr>
            </a:pPr>
            <a:r>
              <a:t>D2: 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19" y="1965960"/>
            <a:ext cx="1847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  <a:latin typeface="Calibri"/>
              </a:defRPr>
            </a:pPr>
            <a:r>
              <a:t>Product &amp; Inventory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19" y="288036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Smartphone specifications cataloging (5G, RAM, CPU)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Supplier stock allotment and batch inventory entries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Automated low-stock threshold triggers (minimum &lt;= 5)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Audit trail for stock adjustments &amp; restock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417320"/>
            <a:ext cx="2066543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21224" y="1554480"/>
            <a:ext cx="731520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P1.3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4184" y="1554480"/>
            <a:ext cx="96012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Calibri"/>
              </a:defRPr>
            </a:pPr>
            <a:r>
              <a:t>D3: ORDE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1965960"/>
            <a:ext cx="1847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  <a:latin typeface="Calibri"/>
              </a:defRPr>
            </a:pPr>
            <a:r>
              <a:t>Order Processing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88036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Shopping cart management and dynamic price calculation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Order detail and shipping address validation (P1.3.1)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Subtotal and 18% GST tax computation (P1.3.2)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15-minute concurrency stock reservation hold (P1.3.3)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1417320"/>
            <a:ext cx="2066543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97496" y="1554480"/>
            <a:ext cx="731520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P1.4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0456" y="1554480"/>
            <a:ext cx="96012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Calibri"/>
              </a:defRPr>
            </a:pPr>
            <a:r>
              <a:t>D4: BILL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1965960"/>
            <a:ext cx="1847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  <a:latin typeface="Calibri"/>
              </a:defRPr>
            </a:pPr>
            <a:r>
              <a:t>Billing &amp; Payment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288036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Customer payment method selection (Card, UPI, NetBank)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Mock Bank Gateway token generation &amp; HMAC signature auth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Transaction verification callback &amp; order status commit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Automated GST tax invoice generation (INV-YYYY-XXXX)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6608" y="1417320"/>
            <a:ext cx="2066543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73768" y="1554480"/>
            <a:ext cx="731520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CBD"/>
                </a:solidFill>
                <a:latin typeface="Calibri"/>
              </a:defRPr>
            </a:pPr>
            <a:r>
              <a:t>P1.5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96728" y="1554480"/>
            <a:ext cx="96012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Calibri"/>
              </a:defRPr>
            </a:pPr>
            <a:r>
              <a:t>D5: FULF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1965960"/>
            <a:ext cx="1847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  <a:latin typeface="Calibri"/>
              </a:defRPr>
            </a:pPr>
            <a:r>
              <a:t>Fulfillment &amp;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288036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Warehouse packaging and IMEI barcode assignment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Carrier dispatch integration (Ekart / Blue Dart Air)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Unique tracking ID &amp; AWB consignment generation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• 7-stage delivery milestone tracking with OTP handoff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DATA 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Project Data Flow Diagram (Authoritative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6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046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fd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955279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61120" y="1371600"/>
            <a:ext cx="24990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508760"/>
            <a:ext cx="2224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DFD Entities &amp; Flow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2874F0"/>
                </a:solidFill>
                <a:latin typeface="Calibri"/>
              </a:rPr>
              <a:t>4 External Entities: </a:t>
            </a:r>
            <a:r>
              <a:rPr sz="900">
                <a:solidFill>
                  <a:srgbClr val="64748B"/>
                </a:solidFill>
                <a:latin typeface="Calibri"/>
              </a:rPr>
              <a:t>Customer, Supplier, Administrator, and Bank Gateway.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2874F0"/>
                </a:solidFill>
                <a:latin typeface="Calibri"/>
              </a:rPr>
              <a:t>5 Core Processes: </a:t>
            </a:r>
            <a:r>
              <a:rPr sz="900">
                <a:solidFill>
                  <a:srgbClr val="64748B"/>
                </a:solidFill>
                <a:latin typeface="Calibri"/>
              </a:rPr>
              <a:t>P1.1 Manage Users, P1.2 Manage Products, P1.3 Process Orders, P1.4 Billing, P1.5 Manage Fulfillment.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2874F0"/>
                </a:solidFill>
                <a:latin typeface="Calibri"/>
              </a:rPr>
              <a:t>5 Relational Stores: </a:t>
            </a:r>
            <a:r>
              <a:rPr sz="900">
                <a:solidFill>
                  <a:srgbClr val="64748B"/>
                </a:solidFill>
                <a:latin typeface="Calibri"/>
              </a:rPr>
              <a:t>D1: USER DB, D2: PRODUCT DB, D3: ORDERS DB, D4: BILLING DB, D5: FULFILLMENT DB.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2874F0"/>
                </a:solidFill>
                <a:latin typeface="Calibri"/>
              </a:rPr>
              <a:t>P1.3 Subprocesses: </a:t>
            </a:r>
            <a:r>
              <a:rPr sz="900">
                <a:solidFill>
                  <a:srgbClr val="64748B"/>
                </a:solidFill>
                <a:latin typeface="Calibri"/>
              </a:rPr>
              <a:t>P1.3.1 Verify Details, P1.3.2 Calc Subtotal, P1.3.3 Reserve Stock.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2874F0"/>
                </a:solidFill>
                <a:latin typeface="Calibri"/>
              </a:rPr>
              <a:t>P1.4 Subprocesses: </a:t>
            </a:r>
            <a:r>
              <a:rPr sz="900">
                <a:solidFill>
                  <a:srgbClr val="64748B"/>
                </a:solidFill>
                <a:latin typeface="Calibri"/>
              </a:rPr>
              <a:t>P1.4.1 Customer Auth, P1.4.2 Gateway Auth, P1.4.3 Generate Invoice.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DETAILED PROCESS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Subprocess Decomposition: Order Processing &amp; Billing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7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5CBD"/>
                </a:solidFill>
                <a:latin typeface="Calibri"/>
              </a:defRPr>
            </a:pPr>
            <a:r>
              <a:t>Process 1.3: Order Processing Sub-Pipeline</a:t>
            </a:r>
          </a:p>
          <a:p>
            <a:pPr>
              <a:spcBef>
                <a:spcPts val="800"/>
              </a:spcBef>
              <a:defRPr sz="1150" b="1">
                <a:solidFill>
                  <a:srgbClr val="2874F0"/>
                </a:solidFill>
                <a:latin typeface="Calibri"/>
              </a:defRPr>
            </a:pPr>
            <a:r>
              <a:t>P1.3.1 Verify Order Details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Validates customer delivery address, phone, and PIN code.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Checks product active state, stock availability, and supplier link.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Ensures shipping address is complete and contact number is 10-digit valid.</a:t>
            </a:r>
          </a:p>
          <a:p>
            <a:pPr>
              <a:spcBef>
                <a:spcPts val="800"/>
              </a:spcBef>
              <a:defRPr sz="1150" b="1">
                <a:solidFill>
                  <a:srgbClr val="2874F0"/>
                </a:solidFill>
                <a:latin typeface="Calibri"/>
              </a:defRPr>
            </a:pPr>
            <a:r>
              <a:t>P1.3.2 Calculate Sub-Total &amp; Tax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Calculates individual line-item totals based on unit price &amp; quantity.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Applies standard 18% GST (9% CGST + 9% SGST) compliant with HSN 85171300.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Applies shipping charge rules (free delivery over threshold) and discount promo codes.</a:t>
            </a:r>
          </a:p>
          <a:p>
            <a:pPr>
              <a:spcBef>
                <a:spcPts val="800"/>
              </a:spcBef>
              <a:defRPr sz="1150" b="1">
                <a:solidFill>
                  <a:srgbClr val="2874F0"/>
                </a:solidFill>
                <a:latin typeface="Calibri"/>
              </a:defRPr>
            </a:pPr>
            <a:r>
              <a:t>P1.3.3 Reserve Stock (Concurrency Control)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Places a temporary 15-minute reservation lock in stock_reservations table.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Decrements available stock to prevent race conditions during high-demand checkout.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Auto-releases reserved stock if payment is abandoned or fails within TTL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5CBD"/>
                </a:solidFill>
                <a:latin typeface="Calibri"/>
              </a:defRPr>
            </a:pPr>
            <a:r>
              <a:t>Process 1.4: Billing &amp; Payment Sub-Pipeline</a:t>
            </a:r>
          </a:p>
          <a:p>
            <a:pPr>
              <a:spcBef>
                <a:spcPts val="800"/>
              </a:spcBef>
              <a:defRPr sz="1150" b="1">
                <a:solidFill>
                  <a:srgbClr val="0D2040"/>
                </a:solidFill>
                <a:latin typeface="Calibri"/>
              </a:defRPr>
            </a:pPr>
            <a:r>
              <a:t>P1.4.1 Customer Payment Auth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Customer selects payment mode: Credit Card, Debit Card, UPI, or Net Banking.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System encapsulates order total and payment intent into a secure payment token.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Prepares signed payload for transmission to Mock Bank Gateway.</a:t>
            </a:r>
          </a:p>
          <a:p>
            <a:pPr>
              <a:spcBef>
                <a:spcPts val="800"/>
              </a:spcBef>
              <a:defRPr sz="1150" b="1">
                <a:solidFill>
                  <a:srgbClr val="0D2040"/>
                </a:solidFill>
                <a:latin typeface="Calibri"/>
              </a:defRPr>
            </a:pPr>
            <a:r>
              <a:t>P1.4.2 Process Gateway Auth (HMAC Token)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Verifies tamper-proof HMAC-SHA256 signature against mock gateway secret key.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Simulates bank authorization, OTP validation, and payment settlement.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Captures gateway response code, authorization ID, and updates payment record.</a:t>
            </a:r>
          </a:p>
          <a:p>
            <a:pPr>
              <a:spcBef>
                <a:spcPts val="800"/>
              </a:spcBef>
              <a:defRPr sz="1150" b="1">
                <a:solidFill>
                  <a:srgbClr val="0D2040"/>
                </a:solidFill>
                <a:latin typeface="Calibri"/>
              </a:defRPr>
            </a:pPr>
            <a:r>
              <a:t>P1.4.3 Generate Tax Invoice &amp; Commit Stock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On payment SUCCESS: Commits order status to PAID and marks stock COMMITTED.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Creates official invoice record in D4 (INV-YYYY-XXXX) with sequential numbering.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  • Generates print-ready GST tax invoice with full tax bifurcation for customer download.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5-Tier Enterprise Software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8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0817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TIER 1: CLIENT PRESENTATION  —  </a:t>
            </a:r>
            <a:r>
              <a:rPr sz="950" b="1">
                <a:solidFill>
                  <a:srgbClr val="1E293B"/>
                </a:solidFill>
                <a:latin typeface="Calibri"/>
              </a:rPr>
              <a:t>Customer Browser  |  Supplier Terminal  |  Administrator Management Console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alibri"/>
              </a:defRPr>
            </a:pPr>
            <a:r>
              <a:t> • Cross-browser responsive rendering across Mobile, Tablet, Laptop, and Desktop screens   • Async AJAX interaction for real-time cart counters, stock checks, and status polling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874F0"/>
                </a:solidFill>
                <a:latin typeface="Calibri"/>
              </a:rPr>
              <a:t>TIER 2: UI/UX &amp; STYLING FRAMEWORK  —  </a:t>
            </a:r>
            <a:r>
              <a:rPr sz="950" b="1">
                <a:solidFill>
                  <a:srgbClr val="1E293B"/>
                </a:solidFill>
                <a:latin typeface="Calibri"/>
              </a:rPr>
              <a:t>HTML5  |  CSS3  |  Bootstrap 5.3  |  Font Awesome 6.5  |  Vanilla JS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alibri"/>
              </a:defRPr>
            </a:pPr>
            <a:r>
              <a:t> • Clean, modern e-commerce visual hierarchy with responsive grid and utility components   • Interactive Chart.js visual analytics dashboard for revenue and inventory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D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3284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D2040"/>
                </a:solidFill>
                <a:latin typeface="Calibri"/>
              </a:rPr>
              <a:t>TIER 3: APPLICATION &amp; CONTROLLER LAYER  —  </a:t>
            </a:r>
            <a:r>
              <a:rPr sz="950" b="1">
                <a:solidFill>
                  <a:srgbClr val="1E293B"/>
                </a:solidFill>
                <a:latin typeface="Calibri"/>
              </a:rPr>
              <a:t>Modular PHP 8.2  |  Session Management  |  RBAC Guards  |  Security Filters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alibri"/>
              </a:defRPr>
            </a:pPr>
            <a:r>
              <a:t> • Strict Role-Based Access Control guards (require_login, require_admin, require_supplier)   • Prepared SQL statements preventing SQL injection, XSS output sanitization, CSRF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8853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TIER 4: BUSINESS SERVICES ENGINE  —  </a:t>
            </a:r>
            <a:r>
              <a:rPr sz="950" b="1">
                <a:solidFill>
                  <a:srgbClr val="1E293B"/>
                </a:solidFill>
                <a:latin typeface="Calibri"/>
              </a:rPr>
              <a:t>Stock Reservation Engine (P1.3.3)  |  GST Billing Engine  |  Fulfillment Tracker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alibri"/>
              </a:defRPr>
            </a:pPr>
            <a:r>
              <a:t> • 15-minute TTL stock reservation preventing race conditions and flash-sale overselling   • Automated 18% GST (CGST 9% + SGST 9%) tax calculation and invoice PDF/Print generator   • Mock Bank Gateway authorization with HMAC-SHA256 signature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24865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45309"/>
                </a:solidFill>
                <a:latin typeface="Calibri"/>
              </a:rPr>
              <a:t>TIER 5: PERSISTENCE &amp; DATA STORAGE  —  </a:t>
            </a:r>
            <a:r>
              <a:rPr sz="950" b="1">
                <a:solidFill>
                  <a:srgbClr val="1E293B"/>
                </a:solidFill>
                <a:latin typeface="Calibri"/>
              </a:rPr>
              <a:t>MySQL 8.4 Database  |  InnoDB Engine  |  UTF-8 Unicode  |  Mock Payment API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alibri"/>
              </a:defRPr>
            </a:pPr>
            <a:r>
              <a:t> • Normalized 3NF relational schema across D1 (Users), D2 (Products), D3 (Orders), D4 (Billing), D5 (Fulfillment)   • Foreign key constraints with ON DELETE CASCADE / RESTRICT for complete ACID integrity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End-to-End Smartphone Order &amp; Distribution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9 of 17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444752"/>
            <a:ext cx="502920" cy="502920"/>
          </a:xfrm>
          <a:prstGeom prst="ellipse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371600"/>
            <a:ext cx="1008857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1408176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Step 1: Product Discovery: </a:t>
            </a:r>
            <a:r>
              <a:rPr sz="950">
                <a:solidFill>
                  <a:srgbClr val="1E293B"/>
                </a:solidFill>
                <a:latin typeface="Calibri"/>
              </a:rPr>
              <a:t>Customer registers / logs in, filters smartphones by brand/RAM/camera, views tech specs, and adds items to shopping cart.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139695"/>
            <a:ext cx="502920" cy="502920"/>
          </a:xfrm>
          <a:prstGeom prst="ellipse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066543"/>
            <a:ext cx="1008857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103119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Step 2: Cart Checkout &amp; Stock Hold: </a:t>
            </a:r>
            <a:r>
              <a:rPr sz="950">
                <a:solidFill>
                  <a:srgbClr val="1E293B"/>
                </a:solidFill>
                <a:latin typeface="Calibri"/>
              </a:rPr>
              <a:t>Customer initiates checkout. System executes P1.3.3: reserves stock for 15 minutes, calculates 18% GST and shipping charges.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761488"/>
            <a:ext cx="1008857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2798064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Step 3: Mock Gateway Payment: </a:t>
            </a:r>
            <a:r>
              <a:rPr sz="950">
                <a:solidFill>
                  <a:srgbClr val="1E293B"/>
                </a:solidFill>
                <a:latin typeface="Calibri"/>
              </a:rPr>
              <a:t>Customer selects payment method (Card / UPI / NetBanking). System invokes Mock Bank Gateway with signed HMAC token.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529584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456432"/>
            <a:ext cx="10088575" cy="6217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493008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45309"/>
                </a:solidFill>
                <a:latin typeface="Calibri"/>
              </a:rPr>
              <a:t>Step 4: Payment Branching Logic: </a:t>
            </a:r>
            <a:r>
              <a:rPr sz="950">
                <a:solidFill>
                  <a:srgbClr val="1E293B"/>
                </a:solidFill>
                <a:latin typeface="Calibri"/>
              </a:rPr>
              <a:t>SUCCESS: Order status -&gt; PAID, stock deducted permanently, tax invoice generated (P1.4.3). FAILED: Stock released, user retries.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24528"/>
            <a:ext cx="502920" cy="502920"/>
          </a:xfrm>
          <a:prstGeom prst="ellipse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151376"/>
            <a:ext cx="1008857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418795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Step 5: Supplier Consignment Allotment: </a:t>
            </a:r>
            <a:r>
              <a:rPr sz="950">
                <a:solidFill>
                  <a:srgbClr val="1E293B"/>
                </a:solidFill>
                <a:latin typeface="Calibri"/>
              </a:rPr>
              <a:t>Assigned regional supplier receives order alert, prepares smartphone unit, inspects IMEI barcode, and packs in tamper-evident box.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919472"/>
            <a:ext cx="502920" cy="502920"/>
          </a:xfrm>
          <a:prstGeom prst="ellipse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846320"/>
            <a:ext cx="1008857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08760" y="4882896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Step 6: Carrier Handover &amp; Tracking: </a:t>
            </a:r>
            <a:r>
              <a:rPr sz="950">
                <a:solidFill>
                  <a:srgbClr val="1E293B"/>
                </a:solidFill>
                <a:latin typeface="Calibri"/>
              </a:rPr>
              <a:t>Carrier (Ekart / Blue Dart) collects package, generates AWB tracking ID, and initiates transit through regional sorting hubs.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614416"/>
            <a:ext cx="502920" cy="502920"/>
          </a:xfrm>
          <a:prstGeom prst="ellipse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41264"/>
            <a:ext cx="1008857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08760" y="55778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5CBD"/>
                </a:solidFill>
                <a:latin typeface="Calibri"/>
              </a:rPr>
              <a:t>Step 7: Doorstep OTP Delivery: </a:t>
            </a:r>
            <a:r>
              <a:rPr sz="950">
                <a:solidFill>
                  <a:srgbClr val="1E293B"/>
                </a:solidFill>
                <a:latin typeface="Calibri"/>
              </a:rPr>
              <a:t>Customer tracks package across 7 live milestones. Delivery executive verifies OTP with customer and completes handover.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DATABASE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Entity-Relationship Model (Core Relational Schema)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10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2468880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64792"/>
            <a:ext cx="22860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user_id: INT (PK)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name: VARCHAR(100)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email: VARCHAR(150) (UQ)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password_hash: VARCHAR(255)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role: ENUM (ADM/CUST/SUP)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phone, address: TEXT/VARCHAR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1732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56432" y="1417320"/>
            <a:ext cx="2468880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SUPPLIERS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764792"/>
            <a:ext cx="22860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supplier_id: INT (PK)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user_id: INT (FK -&gt; users)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company_name: VARCHAR(150)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gst_number: VARCHAR(50)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approval_status: ENUM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rating: DECIMAL(3,2)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41732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1344" y="1417320"/>
            <a:ext cx="2468880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764792"/>
            <a:ext cx="22860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product_id: INT (PK)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supplier_id: INT (FK)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brand_id: INT (FK)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product_name: VARCHAR(200)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model, specs: VARCHAR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price, stock_qty: DEC/INT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417320"/>
            <a:ext cx="255117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06256" y="1417320"/>
            <a:ext cx="2551176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764792"/>
            <a:ext cx="236829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order_id: INT (PK)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customer_id: INT (FK -&gt; users)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order_number: VARCHAR(50) (UQ)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subtotal, tax: DECIMAL(10,2)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total_amount: DECIMAL(10,2)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order_status: ENUM (9 states)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886200"/>
            <a:ext cx="2468880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ORDER_ITEMS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33672"/>
            <a:ext cx="22860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order_item_id: INT (PK)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order_id: INT (FK -&gt; orders)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product_id: INT (FK -&gt; prod)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supplier_id: INT (FK -&gt; supp)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quantity: INT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price, subtotal: DECIMAL(10,2)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388620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56432" y="3886200"/>
            <a:ext cx="2468880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4233672"/>
            <a:ext cx="22860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payment_id: INT (PK)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order_id: INT (FK -&gt; orders)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customer_id: INT (FK -&gt; users)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transaction_id: VARCHAR(100)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amount: DECIMAL(10,2)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payment_status: ENUM (PAID/...)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88620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81344" y="3886200"/>
            <a:ext cx="2468880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4233672"/>
            <a:ext cx="22860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invoice_id: INT (PK)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invoice_number: VARCHAR(50) (UQ)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order_id: INT (FK -&gt; orders)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payment_id: INT (FK -&gt; pay)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tax_amount: DECIMAL(10,2)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billing_address: 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6256" y="3886200"/>
            <a:ext cx="255117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06256" y="3886200"/>
            <a:ext cx="2551176" cy="320040"/>
          </a:xfrm>
          <a:prstGeom prst="rect">
            <a:avLst/>
          </a:prstGeom>
          <a:solidFill>
            <a:srgbClr val="1B5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FULFILLMENTS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4233672"/>
            <a:ext cx="236829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Calibri"/>
              </a:defRPr>
            </a:pPr>
            <a:r>
              <a:t>fulfillment_id: INT (PK)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order_id: INT (FK -&gt; orders)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shipment_id: VARCHAR(50) (UQ)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tracking_id: VARCHAR(50) (UQ)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carrier: VARCHAR(100)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shipment_status: ENUM (7 stages)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Database Data Stores Overview &amp; Table Dictionary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11 of 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DFD Data Store</a:t>
                      </a:r>
                    </a:p>
                  </a:txBody>
                  <a:tcPr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Constituent Tables</a:t>
                      </a:r>
                    </a:p>
                  </a:txBody>
                  <a:tcPr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 &amp; Architectural Scope</a:t>
                      </a:r>
                    </a:p>
                  </a:txBody>
                  <a:tcPr>
                    <a:solidFill>
                      <a:srgbClr val="0D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5CBD"/>
                          </a:solidFill>
                          <a:latin typeface="Calibri"/>
                        </a:defRPr>
                      </a:pPr>
                      <a:r>
                        <a:t>D1: USER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users, 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User accounts, supplier credentials, RBAC roles, contact address 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5CBD"/>
                          </a:solidFill>
                          <a:latin typeface="Calibri"/>
                        </a:defRPr>
                      </a:pPr>
                      <a:r>
                        <a:t>D2: PRODUCT / INVENTORY DB</a:t>
                      </a:r>
                    </a:p>
                  </a:txBody>
                  <a:tcPr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categories, brands, products, product_images, inventory_transactions</a:t>
                      </a:r>
                    </a:p>
                  </a:txBody>
                  <a:tcPr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Smartphone models, technical specifications, brand categories, warehouse stock audits</a:t>
                      </a:r>
                    </a:p>
                  </a:txBody>
                  <a:tcPr>
                    <a:solidFill>
                      <a:srgbClr val="E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5CBD"/>
                          </a:solidFill>
                          <a:latin typeface="Calibri"/>
                        </a:defRPr>
                      </a:pPr>
                      <a:r>
                        <a:t>D3: ORDERS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cart, cart_items, orders, order_items, stock_reservations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Shopping carts, customer checkout records, itemized line items, 15-min stock 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5CBD"/>
                          </a:solidFill>
                          <a:latin typeface="Calibri"/>
                        </a:defRPr>
                      </a:pPr>
                      <a:r>
                        <a:t>D4: BILLING / FINANCE DB</a:t>
                      </a:r>
                    </a:p>
                  </a:txBody>
                  <a:tcPr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payments, invoices, invoice_items</a:t>
                      </a:r>
                    </a:p>
                  </a:txBody>
                  <a:tcPr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Mock gateway transaction logs, payment tokens, GST tax invoices (HSN 85171300)</a:t>
                      </a:r>
                    </a:p>
                  </a:txBody>
                  <a:tcPr>
                    <a:solidFill>
                      <a:srgbClr val="E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5CBD"/>
                          </a:solidFill>
                          <a:latin typeface="Calibri"/>
                        </a:defRPr>
                      </a:pPr>
                      <a:r>
                        <a:t>D5: FULFILLMENT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fulfillments, shipment_events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Carrier dispatch records, tracking numbers, 7-stage milestone timestamps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657600"/>
            <a:ext cx="10728655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2040"/>
                </a:solidFill>
                <a:latin typeface="Calibri"/>
              </a:defRPr>
            </a:pPr>
            <a:r>
              <a:t>Data Integrity, Key Constraints &amp; Schema Highlights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2874F0"/>
                </a:solidFill>
                <a:latin typeface="Calibri"/>
              </a:rPr>
              <a:t>• ACID Compliance &amp; Foreign Keys: </a:t>
            </a:r>
            <a:r>
              <a:rPr sz="950">
                <a:solidFill>
                  <a:srgbClr val="1E293B"/>
                </a:solidFill>
                <a:latin typeface="Calibri"/>
              </a:rPr>
              <a:t>Every transactional table uses InnoDB storage engine with strict FOREIGN KEY constraints guaranteeing referential integrity across deletions.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2874F0"/>
                </a:solidFill>
                <a:latin typeface="Calibri"/>
              </a:rPr>
              <a:t>• Optimistic Concurrency Control: </a:t>
            </a:r>
            <a:r>
              <a:rPr sz="950">
                <a:solidFill>
                  <a:srgbClr val="1E293B"/>
                </a:solidFill>
                <a:latin typeface="Calibri"/>
              </a:rPr>
              <a:t>stock_reservations table utilizes timestamp-based TTL expiry (expiry_time = NOW() + INTERVAL 15 MINUTE) to eliminate double-selling.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2874F0"/>
                </a:solidFill>
                <a:latin typeface="Calibri"/>
              </a:rPr>
              <a:t>• Auditability &amp; Traceability: </a:t>
            </a:r>
            <a:r>
              <a:rPr sz="950">
                <a:solidFill>
                  <a:srgbClr val="1E293B"/>
                </a:solidFill>
                <a:latin typeface="Calibri"/>
              </a:rPr>
              <a:t>inventory_transactions records every quantity change with transaction_type (INITIAL, RESTOCK, PURCHASE, RESERVATION_HOLD, DAMAGE_RETURN).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2874F0"/>
                </a:solidFill>
                <a:latin typeface="Calibri"/>
              </a:rPr>
              <a:t>• Security &amp; Privacy Measures: </a:t>
            </a:r>
            <a:r>
              <a:rPr sz="950">
                <a:solidFill>
                  <a:srgbClr val="1E293B"/>
                </a:solidFill>
                <a:latin typeface="Calibri"/>
              </a:rPr>
              <a:t>Passwords hashed with BCRYPT (cost factor 10); payment payloads signed via HMAC-SHA256 tokens; role guards enforce access boundaries.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USER 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Storefront Homepage &amp; Smartphone Catalog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12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7552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3856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140817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Online Mobile Purchasing System - Home</a:t>
            </a:r>
          </a:p>
        </p:txBody>
      </p:sp>
      <p:pic>
        <p:nvPicPr>
          <p:cNvPr id="15" name="Picture 1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691640"/>
            <a:ext cx="5193792" cy="37764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577840"/>
            <a:ext cx="5212080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596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Storefront Homepage Features: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Hero slider banners, brand quick-links (Apple, Samsung, OnePlus, Google), trending smartphone carousels, and real-time live cart item counter in header.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2120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27648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73952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20256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140817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Smartphone Catalog &amp; Tech Filters</a:t>
            </a:r>
          </a:p>
        </p:txBody>
      </p:sp>
      <p:pic>
        <p:nvPicPr>
          <p:cNvPr id="24" name="Picture 23" descr="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691640"/>
            <a:ext cx="5193792" cy="377647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17920" y="5577840"/>
            <a:ext cx="5212080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5596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Smartphone Catalog Filtering Engine: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Multi-criteria filtering: Brand selection, price slider, 5G network filter, RAM &amp; storage capacity, with instant search results and responsive grid layout.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USER 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Product Specifications &amp; Shopping Cart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13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7552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3856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140817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Product Specification - Samsung Galaxy S24 Ultra</a:t>
            </a:r>
          </a:p>
        </p:txBody>
      </p:sp>
      <p:pic>
        <p:nvPicPr>
          <p:cNvPr id="15" name="Picture 14" descr="produc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691640"/>
            <a:ext cx="5193792" cy="37764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577840"/>
            <a:ext cx="5212080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596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Detailed Hardware Specifications Display: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Complete spec sheet (Snapdragon 8 Gen 3, 200MP Quad Camera, 5000mAh Battery), dynamic stock status badge, and instant Add-to-Cart with stock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2120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27648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73952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20256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140817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Shopping Cart &amp; Dynamic Tax Computation</a:t>
            </a:r>
          </a:p>
        </p:txBody>
      </p:sp>
      <p:pic>
        <p:nvPicPr>
          <p:cNvPr id="24" name="Picture 23" descr="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691640"/>
            <a:ext cx="5193792" cy="377647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17920" y="5577840"/>
            <a:ext cx="5212080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5596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Cart Management &amp; Price Calculation: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Item quantity adjustment, subtotal computation, 18% GST (9% CGST + 9% SGST) breakdown, and seamless one-click transition to secure checkout.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USER 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Administrative Dashboard &amp; Supplier Portal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14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7552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3856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140817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Administrator Operations Dashboard</a:t>
            </a:r>
          </a:p>
        </p:txBody>
      </p:sp>
      <p:pic>
        <p:nvPicPr>
          <p:cNvPr id="15" name="Picture 14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691640"/>
            <a:ext cx="5193792" cy="37764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577840"/>
            <a:ext cx="5212080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596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Super Administrator Governance Features: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Central KPI cards (Total Revenue, Orders, Products, Customers), low-stock audit alerts, recent transactions table, and direct access to inventory &amp; user management.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21208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27648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73952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20256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140817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Supplier Stock &amp; Consignment Portal</a:t>
            </a:r>
          </a:p>
        </p:txBody>
      </p:sp>
      <p:pic>
        <p:nvPicPr>
          <p:cNvPr id="24" name="Picture 23" descr="suppli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691640"/>
            <a:ext cx="5193792" cy="377647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17920" y="5577840"/>
            <a:ext cx="5212080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5596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Supplier Operations &amp; Dispatch Tools: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Supplier catalog management, smartphone restock submission, assigned order dispatch handling, and automated warehouse threshold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USER 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Mock Bank Gateway, GST Tax Invoice &amp; Consignment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15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456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45643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7552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3856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1408176"/>
            <a:ext cx="2724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Mock Bank Payment Gateway</a:t>
            </a:r>
          </a:p>
        </p:txBody>
      </p:sp>
      <p:pic>
        <p:nvPicPr>
          <p:cNvPr id="15" name="Picture 14" descr="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691640"/>
            <a:ext cx="3438144" cy="37764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577840"/>
            <a:ext cx="3456432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3364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P1.4.2 Mock Bank Gateway: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Card/UPI validation, HMAC signature token verification, safe test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1371600"/>
            <a:ext cx="3456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70832" y="1371600"/>
            <a:ext cx="345643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80560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26864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73168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10912" y="1408176"/>
            <a:ext cx="2724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GST Tax Invoice - INV-2026</a:t>
            </a:r>
          </a:p>
        </p:txBody>
      </p:sp>
      <p:pic>
        <p:nvPicPr>
          <p:cNvPr id="24" name="Picture 23" descr="in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691640"/>
            <a:ext cx="3438144" cy="377647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370832" y="5577840"/>
            <a:ext cx="3456432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16552" y="5596128"/>
            <a:ext cx="3364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P1.4.3 GST Tax Invoice: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HSN 85171300, CGST 9% + SGST 9%, print/PDF invoice generator.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1371600"/>
            <a:ext cx="3456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10144" y="1371600"/>
            <a:ext cx="345643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19872" y="14721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66176" y="1472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2480" y="1472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50224" y="1408176"/>
            <a:ext cx="2724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https://localhost:8000/ - Consignment Tracking Timeline</a:t>
            </a:r>
          </a:p>
        </p:txBody>
      </p:sp>
      <p:pic>
        <p:nvPicPr>
          <p:cNvPr id="33" name="Picture 32" descr="trac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1691640"/>
            <a:ext cx="3438144" cy="377647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010144" y="5577840"/>
            <a:ext cx="3456432" cy="731520"/>
          </a:xfrm>
          <a:prstGeom prst="roundRect">
            <a:avLst/>
          </a:prstGeom>
          <a:solidFill>
            <a:srgbClr val="EB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55864" y="5596128"/>
            <a:ext cx="3364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B5CBD"/>
                </a:solidFill>
                <a:latin typeface="Calibri"/>
              </a:defRPr>
            </a:pPr>
            <a:r>
              <a:t>P1.5 7-Stage Delivery Timeline: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Ordered -&gt; Confirmed -&gt; Packed -&gt; Dispatched -&gt; Out for Delivery -&gt; OTP Handover.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B5CBD"/>
                </a:solidFill>
                <a:latin typeface="Calibri"/>
              </a:defRPr>
            </a:pPr>
            <a:r>
              <a:t>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  <a:latin typeface="Calibri"/>
              </a:defRPr>
            </a:pPr>
            <a:r>
              <a:t>System Features, Practical Benefits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B5CBD"/>
                </a:solidFill>
                <a:latin typeface="Calibri"/>
              </a:defRPr>
            </a:pPr>
            <a:r>
              <a:t>Slide 16 of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564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3456432" cy="50292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SALIENT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Multi-Role RBAC Architecture: </a:t>
            </a:r>
            <a:r>
              <a:rPr sz="950">
                <a:solidFill>
                  <a:srgbClr val="64748B"/>
                </a:solidFill>
                <a:latin typeface="Calibri"/>
              </a:rPr>
              <a:t>Strict credential authentication for Customer, Supplier, and Super Admin.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Multi-Attribute Filtering: </a:t>
            </a:r>
            <a:r>
              <a:rPr sz="950">
                <a:solidFill>
                  <a:srgbClr val="64748B"/>
                </a:solidFill>
                <a:latin typeface="Calibri"/>
              </a:rPr>
              <a:t>Instant smartphone lookup by brand, RAM, 5G, price, and technical specs.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15-Minute Concurrency Lock: </a:t>
            </a:r>
            <a:r>
              <a:rPr sz="950">
                <a:solidFill>
                  <a:srgbClr val="64748B"/>
                </a:solidFill>
                <a:latin typeface="Calibri"/>
              </a:rPr>
              <a:t>Temporary stock reservation during checkout prevents overselling.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Automated GST Tax Invoicing: </a:t>
            </a:r>
            <a:r>
              <a:rPr sz="950">
                <a:solidFill>
                  <a:srgbClr val="64748B"/>
                </a:solidFill>
                <a:latin typeface="Calibri"/>
              </a:rPr>
              <a:t>Auto-computes 18% GST (9% CGST + 9% SGST) under HSN 85171300.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7-Stage Consignment Tracking: </a:t>
            </a:r>
            <a:r>
              <a:rPr sz="950">
                <a:solidFill>
                  <a:srgbClr val="64748B"/>
                </a:solidFill>
                <a:latin typeface="Calibri"/>
              </a:rPr>
              <a:t>Live milestone logs with AWB number and OTP delivery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564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345643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BUSINESS &amp; TECHNICAL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Zero Inventory Discrepancy: </a:t>
            </a:r>
            <a:r>
              <a:rPr sz="950">
                <a:solidFill>
                  <a:srgbClr val="64748B"/>
                </a:solidFill>
                <a:latin typeface="Calibri"/>
              </a:rPr>
              <a:t>Real-time stock synchronization eliminates phantom stockouts.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Accelerated Order Turnaround: </a:t>
            </a:r>
            <a:r>
              <a:rPr sz="950">
                <a:solidFill>
                  <a:srgbClr val="64748B"/>
                </a:solidFill>
                <a:latin typeface="Calibri"/>
              </a:rPr>
              <a:t>Automated invoice generation cuts administrative processing by 80%.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Complete Tax Transparency: </a:t>
            </a:r>
            <a:r>
              <a:rPr sz="950">
                <a:solidFill>
                  <a:srgbClr val="64748B"/>
                </a:solidFill>
                <a:latin typeface="Calibri"/>
              </a:rPr>
              <a:t>Standardized GST breakdown eliminates billing errors and audit issues.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High Consumer Confidence: </a:t>
            </a:r>
            <a:r>
              <a:rPr sz="950">
                <a:solidFill>
                  <a:srgbClr val="64748B"/>
                </a:solidFill>
                <a:latin typeface="Calibri"/>
              </a:rPr>
              <a:t>Transparent milestone tracking reduces customer support inquiries.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Production-Ready Security: </a:t>
            </a:r>
            <a:r>
              <a:rPr sz="950">
                <a:solidFill>
                  <a:srgbClr val="64748B"/>
                </a:solidFill>
                <a:latin typeface="Calibri"/>
              </a:rPr>
              <a:t>Prepared statements, XSS escaping, and HMAC token signing.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17320"/>
            <a:ext cx="34564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1417320"/>
            <a:ext cx="345643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FUTURE ROADMAP &amp;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01168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Native Mobile Applications: </a:t>
            </a:r>
            <a:r>
              <a:rPr sz="950">
                <a:solidFill>
                  <a:srgbClr val="64748B"/>
                </a:solidFill>
                <a:latin typeface="Calibri"/>
              </a:rPr>
              <a:t>Cross-platform mobile apps for Android &amp; iOS using Flutter or React Native.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Live GPS Courier Tracking: </a:t>
            </a:r>
            <a:r>
              <a:rPr sz="950">
                <a:solidFill>
                  <a:srgbClr val="64748B"/>
                </a:solidFill>
                <a:latin typeface="Calibri"/>
              </a:rPr>
              <a:t>Interactive real-time driver tracking using Google Maps / Mapbox APIs.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Production Payment Gateway: </a:t>
            </a:r>
            <a:r>
              <a:rPr sz="950">
                <a:solidFill>
                  <a:srgbClr val="64748B"/>
                </a:solidFill>
                <a:latin typeface="Calibri"/>
              </a:rPr>
              <a:t>Integration with Razorpay / Cashfree / Stripe for real UPI &amp; card payments.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AI-Driven Recommendations: </a:t>
            </a:r>
            <a:r>
              <a:rPr sz="950">
                <a:solidFill>
                  <a:srgbClr val="64748B"/>
                </a:solidFill>
                <a:latin typeface="Calibri"/>
              </a:rPr>
              <a:t>Collaborative filtering suggesting smartphones based on user preferences.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• Automated Warehousing: </a:t>
            </a:r>
            <a:r>
              <a:rPr sz="950">
                <a:solidFill>
                  <a:srgbClr val="64748B"/>
                </a:solidFill>
                <a:latin typeface="Calibri"/>
              </a:rPr>
              <a:t>Integration with automated barcode scanners and IoT inventory lockers.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3200400" cy="320040"/>
          </a:xfrm>
          <a:prstGeom prst="roundRect">
            <a:avLst/>
          </a:prstGeom>
          <a:solidFill>
            <a:srgbClr val="143264"/>
          </a:solidFill>
          <a:ln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PROJECT CONCLUSION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 of Academic Project Achievements</a:t>
            </a:r>
          </a:p>
          <a:p>
            <a:pPr>
              <a:spcBef>
                <a:spcPts val="400"/>
              </a:spcBef>
              <a:defRPr sz="1300" b="1">
                <a:solidFill>
                  <a:srgbClr val="BAD7FF"/>
                </a:solidFill>
                <a:latin typeface="Calibri"/>
              </a:defRPr>
            </a:pPr>
            <a:r>
              <a:t>ONLINE MOBILE PURCHASING &amp; DISTRIBUTING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4983480" cy="3931920"/>
          </a:xfrm>
          <a:prstGeom prst="roundRect">
            <a:avLst/>
          </a:prstGeom>
          <a:solidFill>
            <a:srgbClr val="122C58"/>
          </a:solidFill>
          <a:ln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Key Project Achievements:</a:t>
            </a:r>
          </a:p>
          <a:p>
            <a:pPr>
              <a:spcBef>
                <a:spcPts val="7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✓ Fully realized all Data Flow Diagram specifications (P1.1 to P1.5, D1 to D5).</a:t>
            </a:r>
          </a:p>
          <a:p>
            <a:pPr>
              <a:spcBef>
                <a:spcPts val="7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✓ Implemented concurrency-safe 15-minute stock reservations to prevent overselling.</a:t>
            </a:r>
          </a:p>
          <a:p>
            <a:pPr>
              <a:spcBef>
                <a:spcPts val="7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✓ Integrated complete GST-compliant invoicing engine (HSN 85171300, 18% CGST/SGST).</a:t>
            </a:r>
          </a:p>
          <a:p>
            <a:pPr>
              <a:spcBef>
                <a:spcPts val="7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✓ Developed safe Mock Bank Gateway with cryptographic HMAC token verification.</a:t>
            </a:r>
          </a:p>
          <a:p>
            <a:pPr>
              <a:spcBef>
                <a:spcPts val="7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✓ Engineered live 7-stage fulfillment tracking timeline from packing to OTP delivery.</a:t>
            </a:r>
          </a:p>
          <a:p>
            <a:pPr>
              <a:spcBef>
                <a:spcPts val="7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✓ Constructed normalized relational MySQL schema with foreign key ACID integrity.</a:t>
            </a:r>
          </a:p>
          <a:p>
            <a:pPr>
              <a:spcBef>
                <a:spcPts val="7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✓ Designed responsive, modern web UI adhering to contemporary e-commerce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2194560"/>
            <a:ext cx="4983480" cy="3931920"/>
          </a:xfrm>
          <a:prstGeom prst="roundRect">
            <a:avLst/>
          </a:prstGeom>
          <a:solidFill>
            <a:srgbClr val="122C58"/>
          </a:solidFill>
          <a:ln>
            <a:solidFill>
              <a:srgbClr val="1B5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3452</Words>
  <Application>Microsoft Office PowerPoint</Application>
  <PresentationFormat>Widescreen</PresentationFormat>
  <Paragraphs>351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Parashar Patel</cp:lastModifiedBy>
  <cp:revision>2</cp:revision>
  <dcterms:created xsi:type="dcterms:W3CDTF">2013-01-27T09:14:16Z</dcterms:created>
  <dcterms:modified xsi:type="dcterms:W3CDTF">2026-09-09T17:02:19Z</dcterms:modified>
  <cp:category/>
</cp:coreProperties>
</file>